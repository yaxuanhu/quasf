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859000" cy="609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3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748B9-4DCE-6443-83DE-A3825063B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257462"/>
            <a:ext cx="11430000" cy="26749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F5B506-C6C5-4B9D-91BE-F6A05A1F8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035616"/>
            <a:ext cx="11430000" cy="1855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1CC43-D59C-AACE-4302-1D32FD69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4A473F-218C-DC40-896E-6CFA8552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5CF148-6A75-54DB-9D20-372C0F7D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9734B-2BCE-8224-BC07-F558ED8C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EBFD5-6808-26FE-A790-09AC6E8D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1B75E6-F670-C993-1ECF-9EF72E47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9527EE-0005-93F4-B6F2-24C90A48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7CEE6-8DC0-94A1-B571-E63BE13F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7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E4F4D-7C2F-C080-46C9-9D4E808B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1915541"/>
            <a:ext cx="13144500" cy="31961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D1EFB8-F1E0-C766-9B71-53854E0FC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141900"/>
            <a:ext cx="13144500" cy="16807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104AF4-3D72-E92E-5BEE-35A9C270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BFE21-CA82-6419-9E97-43003289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06961-CC38-7C1F-9D0D-F36AF69A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21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72019-3549-A36C-454C-EB43069DE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D85F14-934B-FD13-9ABC-437B7BEDC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045376"/>
            <a:ext cx="6477000" cy="48751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874C0D-543A-5E62-326B-2C06D1314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5250" y="2045376"/>
            <a:ext cx="6477000" cy="48751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C66131-C6F1-BEF2-0C6E-55113183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E03FE-DF59-0AFA-05B4-FEEA4B5F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9BF251-71FC-9AB8-ACF5-1FD53617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56C3C-E27F-79E8-330D-2772913D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5" y="409077"/>
            <a:ext cx="13144500" cy="1485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173C2-DE62-654E-ED3C-90AABDC6A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736" y="1883525"/>
            <a:ext cx="6447234" cy="923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4F6B10-4231-889A-DED4-985BD27E9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736" y="2806612"/>
            <a:ext cx="6447234" cy="41281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5BC93A-3168-CD9B-01D7-19F3BEB8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1" y="1883525"/>
            <a:ext cx="6478985" cy="923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7AE424-2EC0-CA00-8C8D-9FD650163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1" y="2806612"/>
            <a:ext cx="6478985" cy="41281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4406DF-D5EB-4EB2-8ECA-A0C4C4C1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0365DB-496E-58E7-FF16-F68F53C6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7594AC-8AC5-44AE-91ED-98815C06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86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76B64-4B11-1CE7-A3C9-A39EEAFB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BB0408-9464-7243-9D9C-4FCF5B38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A84B6F-AF69-23AD-412C-B7EF3EAB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49E7F3-7A59-7B67-4D84-5909C69D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3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33D6E4-676F-00AB-A91A-4CD9434D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44236E-2F7D-06FD-DE9E-76FECF0C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44EE13-9542-2AE4-7C02-2C80E8E3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74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23ED-5383-919E-CF6A-DA80C32F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12233"/>
            <a:ext cx="4915296" cy="17928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9721D-0AF5-6FD4-81FA-82AF565F0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985" y="1106283"/>
            <a:ext cx="7715250" cy="54602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75BA93-CAEA-5E4F-CAD2-923F11D6C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305050"/>
            <a:ext cx="4915296" cy="42703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66F22F-EE7C-741F-38BA-922CE2B4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E55A4D-8341-8D23-C98A-13D6A0F5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E9267D-95F2-E2BA-5EB5-0D53DC4C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27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C0EEB-646D-905F-0F39-1E37817B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12233"/>
            <a:ext cx="4915296" cy="17928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476666-46D1-31F9-E7EC-8719AD1B3D1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78985" y="1106283"/>
            <a:ext cx="7715250" cy="54602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DB29C2-F2D8-4BCD-4F62-92EAD815A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305050"/>
            <a:ext cx="4915296" cy="427039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24FF94-77E4-3159-DCB2-49BA75614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82461B-358C-96E4-AF24-8A069062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B364C7-EBC2-D21F-24DC-8C334DFB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69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E8833-6B8A-9664-3C09-B94DE753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03D3F0-D21A-260D-17E6-84CB0A5C0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AAADBE-9A6B-9490-4135-AAEF222F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0F0D6-67C8-A9EB-909B-51402BAC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6E7B26-C347-E3C9-F25D-E44A2E04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0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AB3ECC-4115-23F2-E8E7-8BE992BAD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6" y="409075"/>
            <a:ext cx="3286125" cy="65114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C85BEC-565E-6291-6830-B25584C57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1" y="409075"/>
            <a:ext cx="9667875" cy="65114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4D071-99CF-94EC-2D64-EC505644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69676-7D62-D45E-214D-3515DD8C1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D7A5D-683A-F598-81A5-396FB488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87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5E71B1-3469-B205-5314-E8ED8B33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409077"/>
            <a:ext cx="13144500" cy="1485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73A45A-EAF0-79CD-46A3-575946E55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2045376"/>
            <a:ext cx="13144500" cy="4875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B46FCD-9DBA-E44F-8140-57FBE0306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" y="7121468"/>
            <a:ext cx="3429000" cy="40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56DB4-8E44-48A6-A1E2-A336D8E4F286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57DDB-FED2-7B76-0463-62E415223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7121468"/>
            <a:ext cx="5143500" cy="40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EF1A0B-2411-03AB-6D7B-BAF677EFE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7121468"/>
            <a:ext cx="3429000" cy="40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995EB-B838-46EE-AB85-9B3A23470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5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151AC5-980C-1744-5356-D798D51301FE}"/>
              </a:ext>
            </a:extLst>
          </p:cNvPr>
          <p:cNvSpPr txBox="1"/>
          <p:nvPr/>
        </p:nvSpPr>
        <p:spPr>
          <a:xfrm>
            <a:off x="304800" y="152400"/>
            <a:ext cx="2032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200" b="1">
                <a:solidFill>
                  <a:srgbClr val="203442"/>
                </a:solidFill>
                <a:latin typeface="Arial" panose="020B0604020202020204" pitchFamily="34" charset="0"/>
              </a:rPr>
              <a:t>Input</a:t>
            </a:r>
            <a:endParaRPr lang="zh-CN" altLang="en-US" sz="22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B4E291-26DA-CBA0-A899-637E6C2EA438}"/>
              </a:ext>
            </a:extLst>
          </p:cNvPr>
          <p:cNvSpPr txBox="1"/>
          <p:nvPr/>
        </p:nvSpPr>
        <p:spPr>
          <a:xfrm>
            <a:off x="2603500" y="152400"/>
            <a:ext cx="8255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200" b="1">
                <a:solidFill>
                  <a:srgbClr val="203442"/>
                </a:solidFill>
                <a:latin typeface="Arial" panose="020B0604020202020204" pitchFamily="34" charset="0"/>
              </a:rPr>
              <a:t>Disentangling queries</a:t>
            </a:r>
            <a:endParaRPr lang="zh-CN" altLang="en-US" sz="22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2A5B71-D5B8-D9C0-8BFF-864C488782C3}"/>
              </a:ext>
            </a:extLst>
          </p:cNvPr>
          <p:cNvSpPr txBox="1"/>
          <p:nvPr/>
        </p:nvSpPr>
        <p:spPr>
          <a:xfrm>
            <a:off x="12687300" y="152400"/>
            <a:ext cx="2032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200" b="1">
                <a:solidFill>
                  <a:srgbClr val="203442"/>
                </a:solidFill>
                <a:latin typeface="Arial" panose="020B0604020202020204" pitchFamily="34" charset="0"/>
              </a:rPr>
              <a:t>Prediction</a:t>
            </a:r>
            <a:endParaRPr lang="zh-CN" altLang="en-US" sz="22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A11E2E2-89F6-4BA0-E577-59C20A8E0CF8}"/>
              </a:ext>
            </a:extLst>
          </p:cNvPr>
          <p:cNvCxnSpPr/>
          <p:nvPr/>
        </p:nvCxnSpPr>
        <p:spPr>
          <a:xfrm>
            <a:off x="2501900" y="736600"/>
            <a:ext cx="0" cy="5194300"/>
          </a:xfrm>
          <a:prstGeom prst="straightConnector1">
            <a:avLst/>
          </a:prstGeom>
          <a:ln w="6985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D6841D9-577B-19AD-3E9A-27467774CC57}"/>
              </a:ext>
            </a:extLst>
          </p:cNvPr>
          <p:cNvCxnSpPr/>
          <p:nvPr/>
        </p:nvCxnSpPr>
        <p:spPr>
          <a:xfrm>
            <a:off x="12446000" y="736600"/>
            <a:ext cx="0" cy="5194300"/>
          </a:xfrm>
          <a:prstGeom prst="straightConnector1">
            <a:avLst/>
          </a:prstGeom>
          <a:ln w="6985">
            <a:solidFill>
              <a:srgbClr val="DF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9998C8A-F7C0-453C-71C5-A8664277372E}"/>
              </a:ext>
            </a:extLst>
          </p:cNvPr>
          <p:cNvSpPr txBox="1"/>
          <p:nvPr/>
        </p:nvSpPr>
        <p:spPr>
          <a:xfrm>
            <a:off x="304800" y="1016000"/>
            <a:ext cx="2247900" cy="31496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203442"/>
                </a:solidFill>
                <a:latin typeface="Arial" panose="020B0604020202020204" pitchFamily="34" charset="0"/>
              </a:rPr>
              <a:t>Protein sequence</a:t>
            </a:r>
            <a:endParaRPr lang="zh-CN" altLang="en-US" sz="20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CA936C-5A38-4055-1D39-4855B069CD33}"/>
              </a:ext>
            </a:extLst>
          </p:cNvPr>
          <p:cNvSpPr txBox="1"/>
          <p:nvPr/>
        </p:nvSpPr>
        <p:spPr>
          <a:xfrm>
            <a:off x="304800" y="1435100"/>
            <a:ext cx="2032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Human ACE2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B173E9-8CC7-6C9E-53E9-A6398BA7D769}"/>
              </a:ext>
            </a:extLst>
          </p:cNvPr>
          <p:cNvSpPr txBox="1"/>
          <p:nvPr/>
        </p:nvSpPr>
        <p:spPr>
          <a:xfrm>
            <a:off x="304800" y="1790700"/>
            <a:ext cx="2197100" cy="31496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2000">
                <a:solidFill>
                  <a:srgbClr val="526675"/>
                </a:solidFill>
                <a:latin typeface="Arial" panose="020B0604020202020204" pitchFamily="34" charset="0"/>
              </a:rPr>
              <a:t>Q9BYF1 · 805 aa</a:t>
            </a:r>
            <a:endParaRPr lang="zh-CN" altLang="en-US" sz="20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4CB09B-8842-E653-16BE-B75C165D71ED}"/>
              </a:ext>
            </a:extLst>
          </p:cNvPr>
          <p:cNvSpPr/>
          <p:nvPr/>
        </p:nvSpPr>
        <p:spPr>
          <a:xfrm>
            <a:off x="304800" y="2301240"/>
            <a:ext cx="406400" cy="266700"/>
          </a:xfrm>
          <a:prstGeom prst="rect">
            <a:avLst/>
          </a:prstGeom>
          <a:solidFill>
            <a:srgbClr val="FBF1E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7FCA40-754D-8019-50C3-5BC56BA0F7C1}"/>
              </a:ext>
            </a:extLst>
          </p:cNvPr>
          <p:cNvSpPr/>
          <p:nvPr/>
        </p:nvSpPr>
        <p:spPr>
          <a:xfrm>
            <a:off x="1104900" y="2692400"/>
            <a:ext cx="635000" cy="266700"/>
          </a:xfrm>
          <a:prstGeom prst="rect">
            <a:avLst/>
          </a:prstGeom>
          <a:solidFill>
            <a:srgbClr val="E7F2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292D2C-2C76-AC1B-DE0D-1C1D26C8BD17}"/>
              </a:ext>
            </a:extLst>
          </p:cNvPr>
          <p:cNvSpPr txBox="1"/>
          <p:nvPr/>
        </p:nvSpPr>
        <p:spPr>
          <a:xfrm>
            <a:off x="304800" y="2247900"/>
            <a:ext cx="2032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LLLCGGGDEHA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AA4223E-47AE-1D0C-FA8A-27CAB60A5756}"/>
              </a:ext>
            </a:extLst>
          </p:cNvPr>
          <p:cNvSpPr txBox="1"/>
          <p:nvPr/>
        </p:nvSpPr>
        <p:spPr>
          <a:xfrm>
            <a:off x="304800" y="2639060"/>
            <a:ext cx="2260600" cy="31496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MSADFLETS...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90AF05-2D44-4BDC-B642-A524B87CF861}"/>
              </a:ext>
            </a:extLst>
          </p:cNvPr>
          <p:cNvSpPr txBox="1"/>
          <p:nvPr/>
        </p:nvSpPr>
        <p:spPr>
          <a:xfrm>
            <a:off x="1079500" y="3009900"/>
            <a:ext cx="254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…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4F7412F-D67B-BAA8-79E8-1BF0672E081D}"/>
              </a:ext>
            </a:extLst>
          </p:cNvPr>
          <p:cNvCxnSpPr/>
          <p:nvPr/>
        </p:nvCxnSpPr>
        <p:spPr>
          <a:xfrm>
            <a:off x="1244600" y="3352800"/>
            <a:ext cx="0" cy="203200"/>
          </a:xfrm>
          <a:prstGeom prst="straightConnector1">
            <a:avLst/>
          </a:prstGeom>
          <a:ln w="15875">
            <a:solidFill>
              <a:srgbClr val="8491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17E442-F8EB-F9AE-1ACE-AB208C48C157}"/>
              </a:ext>
            </a:extLst>
          </p:cNvPr>
          <p:cNvSpPr/>
          <p:nvPr/>
        </p:nvSpPr>
        <p:spPr>
          <a:xfrm>
            <a:off x="495300" y="3556000"/>
            <a:ext cx="1524000" cy="85344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0795">
            <a:solidFill>
              <a:srgbClr val="A7B6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ESM2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1AB948-29B0-80E5-7196-7EB152137907}"/>
              </a:ext>
            </a:extLst>
          </p:cNvPr>
          <p:cNvSpPr txBox="1"/>
          <p:nvPr/>
        </p:nvSpPr>
        <p:spPr>
          <a:xfrm>
            <a:off x="406400" y="4470400"/>
            <a:ext cx="1739900" cy="6045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Frozen ESM2
features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46C6EB8-CA8F-A4BE-F4B6-D8D983E8EEA5}"/>
              </a:ext>
            </a:extLst>
          </p:cNvPr>
          <p:cNvCxnSpPr/>
          <p:nvPr/>
        </p:nvCxnSpPr>
        <p:spPr>
          <a:xfrm>
            <a:off x="2019300" y="3982720"/>
            <a:ext cx="520700" cy="0"/>
          </a:xfrm>
          <a:prstGeom prst="straightConnector1">
            <a:avLst/>
          </a:prstGeom>
          <a:ln w="15875">
            <a:solidFill>
              <a:srgbClr val="84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22897CA-7DF7-DC90-5797-CFF68EFE07E1}"/>
              </a:ext>
            </a:extLst>
          </p:cNvPr>
          <p:cNvCxnSpPr/>
          <p:nvPr/>
        </p:nvCxnSpPr>
        <p:spPr>
          <a:xfrm>
            <a:off x="2540000" y="2654300"/>
            <a:ext cx="0" cy="1328420"/>
          </a:xfrm>
          <a:prstGeom prst="straightConnector1">
            <a:avLst/>
          </a:prstGeom>
          <a:ln w="15875">
            <a:solidFill>
              <a:srgbClr val="84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752DBA4-0A05-AC9C-CE37-3B0688C9A78B}"/>
              </a:ext>
            </a:extLst>
          </p:cNvPr>
          <p:cNvCxnSpPr/>
          <p:nvPr/>
        </p:nvCxnSpPr>
        <p:spPr>
          <a:xfrm>
            <a:off x="2540000" y="2654300"/>
            <a:ext cx="419100" cy="0"/>
          </a:xfrm>
          <a:prstGeom prst="straightConnector1">
            <a:avLst/>
          </a:prstGeom>
          <a:ln w="15875">
            <a:solidFill>
              <a:srgbClr val="8491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94F0C19-6327-EDFD-38B3-5E868DC95AEE}"/>
              </a:ext>
            </a:extLst>
          </p:cNvPr>
          <p:cNvCxnSpPr/>
          <p:nvPr/>
        </p:nvCxnSpPr>
        <p:spPr>
          <a:xfrm>
            <a:off x="2540000" y="3787140"/>
            <a:ext cx="419100" cy="0"/>
          </a:xfrm>
          <a:prstGeom prst="straightConnector1">
            <a:avLst/>
          </a:prstGeom>
          <a:ln w="15875">
            <a:solidFill>
              <a:srgbClr val="8491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C5ADA5E-B99F-8002-9B55-98845FEBF2FC}"/>
              </a:ext>
            </a:extLst>
          </p:cNvPr>
          <p:cNvSpPr txBox="1"/>
          <p:nvPr/>
        </p:nvSpPr>
        <p:spPr>
          <a:xfrm>
            <a:off x="2540000" y="609600"/>
            <a:ext cx="29845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Segmentation queries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02C7B99-5724-C7D7-BDC0-73B9024B9BDC}"/>
              </a:ext>
            </a:extLst>
          </p:cNvPr>
          <p:cNvSpPr/>
          <p:nvPr/>
        </p:nvSpPr>
        <p:spPr>
          <a:xfrm>
            <a:off x="3175000" y="109855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D99A58"/>
          </a:solidFill>
          <a:ln w="13970">
            <a:solidFill>
              <a:srgbClr val="D99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4AFCF1A-F5D3-C041-3B71-C4669DA99285}"/>
              </a:ext>
            </a:extLst>
          </p:cNvPr>
          <p:cNvSpPr/>
          <p:nvPr/>
        </p:nvSpPr>
        <p:spPr>
          <a:xfrm>
            <a:off x="3517900" y="109855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D99A58"/>
          </a:solidFill>
          <a:ln w="13970">
            <a:solidFill>
              <a:srgbClr val="D99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2861770-3375-75BB-FD8A-1359F3F558DD}"/>
              </a:ext>
            </a:extLst>
          </p:cNvPr>
          <p:cNvSpPr/>
          <p:nvPr/>
        </p:nvSpPr>
        <p:spPr>
          <a:xfrm>
            <a:off x="3860800" y="109855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D99A58"/>
          </a:solidFill>
          <a:ln w="13970">
            <a:solidFill>
              <a:srgbClr val="D99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738B794-6936-2E18-0674-F61F884F5892}"/>
              </a:ext>
            </a:extLst>
          </p:cNvPr>
          <p:cNvSpPr/>
          <p:nvPr/>
        </p:nvSpPr>
        <p:spPr>
          <a:xfrm>
            <a:off x="4203700" y="109855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D99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996E6F-E017-A7BB-CFAB-F985FF74BDBD}"/>
              </a:ext>
            </a:extLst>
          </p:cNvPr>
          <p:cNvSpPr txBox="1"/>
          <p:nvPr/>
        </p:nvSpPr>
        <p:spPr>
          <a:xfrm>
            <a:off x="2603500" y="1516379"/>
            <a:ext cx="2552700" cy="3733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dirty="0">
                <a:solidFill>
                  <a:srgbClr val="526675"/>
                </a:solidFill>
                <a:latin typeface="Arial" panose="020B0604020202020204" pitchFamily="34" charset="0"/>
              </a:rPr>
              <a:t>Top-k content</a:t>
            </a:r>
            <a:endParaRPr lang="zh-CN" altLang="en-US" sz="2100" dirty="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00BB0E6-C9C2-8AF2-EE7A-7F6AE301B6F6}"/>
              </a:ext>
            </a:extLst>
          </p:cNvPr>
          <p:cNvSpPr/>
          <p:nvPr/>
        </p:nvSpPr>
        <p:spPr>
          <a:xfrm>
            <a:off x="2959100" y="2227580"/>
            <a:ext cx="1828800" cy="85344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5076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Sequence</a:t>
            </a:r>
          </a:p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encoder</a:t>
            </a:r>
            <a:endParaRPr lang="zh-CN" altLang="en-US" sz="2100" b="1" dirty="0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E90994C-3A7A-30CD-6CC6-D4C9CCE66E11}"/>
              </a:ext>
            </a:extLst>
          </p:cNvPr>
          <p:cNvCxnSpPr>
            <a:cxnSpLocks/>
          </p:cNvCxnSpPr>
          <p:nvPr/>
        </p:nvCxnSpPr>
        <p:spPr>
          <a:xfrm flipV="1">
            <a:off x="3873500" y="1889760"/>
            <a:ext cx="6350" cy="337820"/>
          </a:xfrm>
          <a:prstGeom prst="straightConnector1">
            <a:avLst/>
          </a:prstGeom>
          <a:ln w="15875">
            <a:solidFill>
              <a:srgbClr val="D99A5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B7E3E77-1E63-8C3B-F629-E1E091887C6A}"/>
              </a:ext>
            </a:extLst>
          </p:cNvPr>
          <p:cNvSpPr/>
          <p:nvPr/>
        </p:nvSpPr>
        <p:spPr>
          <a:xfrm>
            <a:off x="5562600" y="858520"/>
            <a:ext cx="1422400" cy="216916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7C9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A911D0E-F79F-FF36-759D-5F4CDF625715}"/>
              </a:ext>
            </a:extLst>
          </p:cNvPr>
          <p:cNvSpPr/>
          <p:nvPr/>
        </p:nvSpPr>
        <p:spPr>
          <a:xfrm>
            <a:off x="5715000" y="101854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Q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61CDE1E-A9D6-7DCC-60C3-AE405A9221BC}"/>
              </a:ext>
            </a:extLst>
          </p:cNvPr>
          <p:cNvSpPr/>
          <p:nvPr/>
        </p:nvSpPr>
        <p:spPr>
          <a:xfrm>
            <a:off x="5715000" y="172974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V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99D8D57-AF34-2167-0506-2CC6FE36BC71}"/>
              </a:ext>
            </a:extLst>
          </p:cNvPr>
          <p:cNvSpPr/>
          <p:nvPr/>
        </p:nvSpPr>
        <p:spPr>
          <a:xfrm>
            <a:off x="5715000" y="244094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K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2AEF3C0-DD75-2DC2-6A54-3E238904305B}"/>
              </a:ext>
            </a:extLst>
          </p:cNvPr>
          <p:cNvSpPr/>
          <p:nvPr/>
        </p:nvSpPr>
        <p:spPr>
          <a:xfrm>
            <a:off x="6210300" y="1018540"/>
            <a:ext cx="660400" cy="184912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Segmentation
decoder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CA7084F-02E5-2D30-7951-38470C7FA437}"/>
              </a:ext>
            </a:extLst>
          </p:cNvPr>
          <p:cNvCxnSpPr/>
          <p:nvPr/>
        </p:nvCxnSpPr>
        <p:spPr>
          <a:xfrm>
            <a:off x="4470400" y="1231900"/>
            <a:ext cx="1244600" cy="0"/>
          </a:xfrm>
          <a:prstGeom prst="straightConnector1">
            <a:avLst/>
          </a:prstGeom>
          <a:ln w="15875">
            <a:solidFill>
              <a:srgbClr val="D99A5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A1B547B-FBF5-A71F-7F1F-422FA5795504}"/>
              </a:ext>
            </a:extLst>
          </p:cNvPr>
          <p:cNvCxnSpPr/>
          <p:nvPr/>
        </p:nvCxnSpPr>
        <p:spPr>
          <a:xfrm>
            <a:off x="4787900" y="2654300"/>
            <a:ext cx="546100" cy="0"/>
          </a:xfrm>
          <a:prstGeom prst="straightConnector1">
            <a:avLst/>
          </a:prstGeom>
          <a:ln w="15875">
            <a:solidFill>
              <a:srgbClr val="84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AF9F39E-6F90-9AE6-FA55-CB9182AAF44A}"/>
              </a:ext>
            </a:extLst>
          </p:cNvPr>
          <p:cNvCxnSpPr/>
          <p:nvPr/>
        </p:nvCxnSpPr>
        <p:spPr>
          <a:xfrm>
            <a:off x="5334000" y="1943100"/>
            <a:ext cx="0" cy="711200"/>
          </a:xfrm>
          <a:prstGeom prst="straightConnector1">
            <a:avLst/>
          </a:prstGeom>
          <a:ln w="15875">
            <a:solidFill>
              <a:srgbClr val="849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8F21B51-8995-3078-97C4-77A46C79CA34}"/>
              </a:ext>
            </a:extLst>
          </p:cNvPr>
          <p:cNvCxnSpPr/>
          <p:nvPr/>
        </p:nvCxnSpPr>
        <p:spPr>
          <a:xfrm>
            <a:off x="5334000" y="1943100"/>
            <a:ext cx="381000" cy="0"/>
          </a:xfrm>
          <a:prstGeom prst="straightConnector1">
            <a:avLst/>
          </a:prstGeom>
          <a:ln w="15875">
            <a:solidFill>
              <a:srgbClr val="8491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3B88A5C-0493-46FE-40C4-392327E95E14}"/>
              </a:ext>
            </a:extLst>
          </p:cNvPr>
          <p:cNvCxnSpPr/>
          <p:nvPr/>
        </p:nvCxnSpPr>
        <p:spPr>
          <a:xfrm>
            <a:off x="5334000" y="2654300"/>
            <a:ext cx="381000" cy="0"/>
          </a:xfrm>
          <a:prstGeom prst="straightConnector1">
            <a:avLst/>
          </a:prstGeom>
          <a:ln w="15875">
            <a:solidFill>
              <a:srgbClr val="8491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87DBE1C-9407-98E9-5969-ED11BE8B5B02}"/>
              </a:ext>
            </a:extLst>
          </p:cNvPr>
          <p:cNvCxnSpPr/>
          <p:nvPr/>
        </p:nvCxnSpPr>
        <p:spPr>
          <a:xfrm>
            <a:off x="6985000" y="1943100"/>
            <a:ext cx="317500" cy="0"/>
          </a:xfrm>
          <a:prstGeom prst="straightConnector1">
            <a:avLst/>
          </a:prstGeom>
          <a:ln w="15875">
            <a:solidFill>
              <a:srgbClr val="D99A5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221F793-9F8D-3FF6-B772-55C24770DFE7}"/>
              </a:ext>
            </a:extLst>
          </p:cNvPr>
          <p:cNvSpPr txBox="1"/>
          <p:nvPr/>
        </p:nvSpPr>
        <p:spPr>
          <a:xfrm>
            <a:off x="7289800" y="858520"/>
            <a:ext cx="22225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Candidate masks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61D7EDA-DE03-DF54-8B5E-58B8F460F4C9}"/>
              </a:ext>
            </a:extLst>
          </p:cNvPr>
          <p:cNvSpPr/>
          <p:nvPr/>
        </p:nvSpPr>
        <p:spPr>
          <a:xfrm>
            <a:off x="7493000" y="141859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0F7DC6F-EB3E-8EBE-465A-F49EF35F27C4}"/>
              </a:ext>
            </a:extLst>
          </p:cNvPr>
          <p:cNvSpPr/>
          <p:nvPr/>
        </p:nvSpPr>
        <p:spPr>
          <a:xfrm>
            <a:off x="7645400" y="141859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75A18A1-E804-30C0-E69A-013320481FF0}"/>
              </a:ext>
            </a:extLst>
          </p:cNvPr>
          <p:cNvSpPr/>
          <p:nvPr/>
        </p:nvSpPr>
        <p:spPr>
          <a:xfrm>
            <a:off x="7797800" y="141859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5A9B55-E433-2E6B-8886-230F7062F132}"/>
              </a:ext>
            </a:extLst>
          </p:cNvPr>
          <p:cNvSpPr/>
          <p:nvPr/>
        </p:nvSpPr>
        <p:spPr>
          <a:xfrm>
            <a:off x="7950200" y="141859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3353C42-A54B-417E-5728-D531595ED48C}"/>
              </a:ext>
            </a:extLst>
          </p:cNvPr>
          <p:cNvSpPr/>
          <p:nvPr/>
        </p:nvSpPr>
        <p:spPr>
          <a:xfrm>
            <a:off x="81026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C4A6E7A-1777-1A0D-EC80-1455A5016894}"/>
              </a:ext>
            </a:extLst>
          </p:cNvPr>
          <p:cNvSpPr/>
          <p:nvPr/>
        </p:nvSpPr>
        <p:spPr>
          <a:xfrm>
            <a:off x="82550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89D311E-52B2-3DB0-0FC1-32DC7791732A}"/>
              </a:ext>
            </a:extLst>
          </p:cNvPr>
          <p:cNvSpPr/>
          <p:nvPr/>
        </p:nvSpPr>
        <p:spPr>
          <a:xfrm>
            <a:off x="84074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E93193B-43E7-8877-8777-700C2B0C6AA0}"/>
              </a:ext>
            </a:extLst>
          </p:cNvPr>
          <p:cNvSpPr/>
          <p:nvPr/>
        </p:nvSpPr>
        <p:spPr>
          <a:xfrm>
            <a:off x="85598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424AA2B-BB33-4EBB-1843-FB702A830620}"/>
              </a:ext>
            </a:extLst>
          </p:cNvPr>
          <p:cNvSpPr/>
          <p:nvPr/>
        </p:nvSpPr>
        <p:spPr>
          <a:xfrm>
            <a:off x="87122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BE33581-82E1-D354-6BBB-BB451B3471E9}"/>
              </a:ext>
            </a:extLst>
          </p:cNvPr>
          <p:cNvSpPr/>
          <p:nvPr/>
        </p:nvSpPr>
        <p:spPr>
          <a:xfrm>
            <a:off x="88646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F75D16B-72E5-CA42-EAE7-39D49A5ED44D}"/>
              </a:ext>
            </a:extLst>
          </p:cNvPr>
          <p:cNvSpPr/>
          <p:nvPr/>
        </p:nvSpPr>
        <p:spPr>
          <a:xfrm>
            <a:off x="9017000" y="141859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11850EB-9735-E052-90CD-433606CA137B}"/>
              </a:ext>
            </a:extLst>
          </p:cNvPr>
          <p:cNvSpPr/>
          <p:nvPr/>
        </p:nvSpPr>
        <p:spPr>
          <a:xfrm>
            <a:off x="74930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47CBEEC-73CB-58C0-AC61-C51B270E609D}"/>
              </a:ext>
            </a:extLst>
          </p:cNvPr>
          <p:cNvSpPr/>
          <p:nvPr/>
        </p:nvSpPr>
        <p:spPr>
          <a:xfrm>
            <a:off x="76454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129AA06-746D-0DC4-039C-52DE0C6001C0}"/>
              </a:ext>
            </a:extLst>
          </p:cNvPr>
          <p:cNvSpPr/>
          <p:nvPr/>
        </p:nvSpPr>
        <p:spPr>
          <a:xfrm>
            <a:off x="77978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A131956-E485-AAAF-3AB4-3511ABA40B8D}"/>
              </a:ext>
            </a:extLst>
          </p:cNvPr>
          <p:cNvSpPr/>
          <p:nvPr/>
        </p:nvSpPr>
        <p:spPr>
          <a:xfrm>
            <a:off x="7950200" y="179197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83390C5-3F10-634C-1D71-7F4C41559DD7}"/>
              </a:ext>
            </a:extLst>
          </p:cNvPr>
          <p:cNvSpPr/>
          <p:nvPr/>
        </p:nvSpPr>
        <p:spPr>
          <a:xfrm>
            <a:off x="8102600" y="179197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58BE9EF-5089-E556-124F-78CF6F592DAA}"/>
              </a:ext>
            </a:extLst>
          </p:cNvPr>
          <p:cNvSpPr/>
          <p:nvPr/>
        </p:nvSpPr>
        <p:spPr>
          <a:xfrm>
            <a:off x="8255000" y="179197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5C26AD8-7A36-8A60-AEBD-0B482E85A290}"/>
              </a:ext>
            </a:extLst>
          </p:cNvPr>
          <p:cNvSpPr/>
          <p:nvPr/>
        </p:nvSpPr>
        <p:spPr>
          <a:xfrm>
            <a:off x="8407400" y="179197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26DA665-9C47-34C8-B7ED-3DD1E814F33B}"/>
              </a:ext>
            </a:extLst>
          </p:cNvPr>
          <p:cNvSpPr/>
          <p:nvPr/>
        </p:nvSpPr>
        <p:spPr>
          <a:xfrm>
            <a:off x="85598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6548276-A7F9-0D7F-3850-A4D11E2519D9}"/>
              </a:ext>
            </a:extLst>
          </p:cNvPr>
          <p:cNvSpPr/>
          <p:nvPr/>
        </p:nvSpPr>
        <p:spPr>
          <a:xfrm>
            <a:off x="87122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E1D961E-BECF-247E-5B74-A3A779708D46}"/>
              </a:ext>
            </a:extLst>
          </p:cNvPr>
          <p:cNvSpPr/>
          <p:nvPr/>
        </p:nvSpPr>
        <p:spPr>
          <a:xfrm>
            <a:off x="88646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DB87F5C-988A-4D1F-3BA0-56628F5DB6DD}"/>
              </a:ext>
            </a:extLst>
          </p:cNvPr>
          <p:cNvSpPr/>
          <p:nvPr/>
        </p:nvSpPr>
        <p:spPr>
          <a:xfrm>
            <a:off x="9017000" y="179197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C0C4162-E682-2D88-CAF6-A77AF3BD9FF9}"/>
              </a:ext>
            </a:extLst>
          </p:cNvPr>
          <p:cNvSpPr/>
          <p:nvPr/>
        </p:nvSpPr>
        <p:spPr>
          <a:xfrm>
            <a:off x="74930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4FF377E-E8E8-6AB1-E0B2-3460E8205491}"/>
              </a:ext>
            </a:extLst>
          </p:cNvPr>
          <p:cNvSpPr/>
          <p:nvPr/>
        </p:nvSpPr>
        <p:spPr>
          <a:xfrm>
            <a:off x="76454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DA18622-B2E0-AB2D-3A9F-B82F278FBB98}"/>
              </a:ext>
            </a:extLst>
          </p:cNvPr>
          <p:cNvSpPr/>
          <p:nvPr/>
        </p:nvSpPr>
        <p:spPr>
          <a:xfrm>
            <a:off x="77978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5978472-A9B3-6350-6DE3-26706CAEC5FB}"/>
              </a:ext>
            </a:extLst>
          </p:cNvPr>
          <p:cNvSpPr/>
          <p:nvPr/>
        </p:nvSpPr>
        <p:spPr>
          <a:xfrm>
            <a:off x="79502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32F6568-FCEF-9291-BC9D-64C303E56890}"/>
              </a:ext>
            </a:extLst>
          </p:cNvPr>
          <p:cNvSpPr/>
          <p:nvPr/>
        </p:nvSpPr>
        <p:spPr>
          <a:xfrm>
            <a:off x="81026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3237891-4970-7212-1701-6B450F639CEC}"/>
              </a:ext>
            </a:extLst>
          </p:cNvPr>
          <p:cNvSpPr/>
          <p:nvPr/>
        </p:nvSpPr>
        <p:spPr>
          <a:xfrm>
            <a:off x="82550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E376E81-BCD0-FA32-C515-F69221FBA7A8}"/>
              </a:ext>
            </a:extLst>
          </p:cNvPr>
          <p:cNvSpPr/>
          <p:nvPr/>
        </p:nvSpPr>
        <p:spPr>
          <a:xfrm>
            <a:off x="8407400" y="216535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94BCB94-8424-C10D-5695-26104E8768B3}"/>
              </a:ext>
            </a:extLst>
          </p:cNvPr>
          <p:cNvSpPr/>
          <p:nvPr/>
        </p:nvSpPr>
        <p:spPr>
          <a:xfrm>
            <a:off x="8559800" y="216535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05922B3-C008-5E45-2A03-69B863B5EA58}"/>
              </a:ext>
            </a:extLst>
          </p:cNvPr>
          <p:cNvSpPr/>
          <p:nvPr/>
        </p:nvSpPr>
        <p:spPr>
          <a:xfrm>
            <a:off x="8712200" y="216535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B0D361B-D0AD-F2DA-E304-051FE024B97F}"/>
              </a:ext>
            </a:extLst>
          </p:cNvPr>
          <p:cNvSpPr/>
          <p:nvPr/>
        </p:nvSpPr>
        <p:spPr>
          <a:xfrm>
            <a:off x="8864600" y="2165350"/>
            <a:ext cx="114300" cy="284480"/>
          </a:xfrm>
          <a:prstGeom prst="rect">
            <a:avLst/>
          </a:prstGeom>
          <a:solidFill>
            <a:srgbClr val="D99A5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9900B9D-24DA-F2B0-779E-5C9421F3AB7C}"/>
              </a:ext>
            </a:extLst>
          </p:cNvPr>
          <p:cNvSpPr/>
          <p:nvPr/>
        </p:nvSpPr>
        <p:spPr>
          <a:xfrm>
            <a:off x="9017000" y="2165350"/>
            <a:ext cx="114300" cy="284480"/>
          </a:xfrm>
          <a:prstGeom prst="rect">
            <a:avLst/>
          </a:prstGeom>
          <a:solidFill>
            <a:srgbClr val="EEF0F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B1BDC10F-B193-7E17-08BF-3EAF0625E2F4}"/>
              </a:ext>
            </a:extLst>
          </p:cNvPr>
          <p:cNvCxnSpPr/>
          <p:nvPr/>
        </p:nvCxnSpPr>
        <p:spPr>
          <a:xfrm>
            <a:off x="9220200" y="1943100"/>
            <a:ext cx="317500" cy="0"/>
          </a:xfrm>
          <a:prstGeom prst="straightConnector1">
            <a:avLst/>
          </a:prstGeom>
          <a:ln w="15875">
            <a:solidFill>
              <a:srgbClr val="D99A5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AFA0419-98D3-A3EB-EA3B-63122D1FBBD2}"/>
              </a:ext>
            </a:extLst>
          </p:cNvPr>
          <p:cNvSpPr/>
          <p:nvPr/>
        </p:nvSpPr>
        <p:spPr>
          <a:xfrm>
            <a:off x="9537700" y="1516380"/>
            <a:ext cx="1524000" cy="85344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 dirty="0">
                <a:solidFill>
                  <a:srgbClr val="203442"/>
                </a:solidFill>
                <a:latin typeface="Arial" panose="020B0604020202020204" pitchFamily="34" charset="0"/>
              </a:rPr>
              <a:t>Region
decoding</a:t>
            </a:r>
            <a:endParaRPr lang="zh-CN" altLang="en-US" sz="2100" b="1" dirty="0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8AD5B98-91B9-998D-613F-15C7A1FD2E45}"/>
              </a:ext>
            </a:extLst>
          </p:cNvPr>
          <p:cNvSpPr txBox="1"/>
          <p:nvPr/>
        </p:nvSpPr>
        <p:spPr>
          <a:xfrm>
            <a:off x="9410700" y="2451491"/>
            <a:ext cx="1905000" cy="39116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dirty="0">
                <a:solidFill>
                  <a:srgbClr val="526675"/>
                </a:solidFill>
                <a:latin typeface="Arial" panose="020B0604020202020204" pitchFamily="34" charset="0"/>
              </a:rPr>
              <a:t>NMS + merge</a:t>
            </a:r>
            <a:endParaRPr lang="zh-CN" altLang="en-US" sz="2100" dirty="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B7A62D1-DFD2-DB39-6D14-39313F2D6ACC}"/>
              </a:ext>
            </a:extLst>
          </p:cNvPr>
          <p:cNvCxnSpPr>
            <a:cxnSpLocks/>
          </p:cNvCxnSpPr>
          <p:nvPr/>
        </p:nvCxnSpPr>
        <p:spPr>
          <a:xfrm flipH="1">
            <a:off x="10313670" y="2842260"/>
            <a:ext cx="0" cy="358140"/>
          </a:xfrm>
          <a:prstGeom prst="straightConnector1">
            <a:avLst/>
          </a:prstGeom>
          <a:ln w="15875">
            <a:solidFill>
              <a:srgbClr val="18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3E6F53F3-E602-FA81-5503-EED1B458129E}"/>
              </a:ext>
            </a:extLst>
          </p:cNvPr>
          <p:cNvCxnSpPr>
            <a:cxnSpLocks/>
          </p:cNvCxnSpPr>
          <p:nvPr/>
        </p:nvCxnSpPr>
        <p:spPr>
          <a:xfrm>
            <a:off x="3873500" y="3200400"/>
            <a:ext cx="6440170" cy="0"/>
          </a:xfrm>
          <a:prstGeom prst="straightConnector1">
            <a:avLst/>
          </a:prstGeom>
          <a:ln w="15875">
            <a:solidFill>
              <a:srgbClr val="18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85BE6C9-59A0-0317-D4FF-C872410EC373}"/>
              </a:ext>
            </a:extLst>
          </p:cNvPr>
          <p:cNvCxnSpPr/>
          <p:nvPr/>
        </p:nvCxnSpPr>
        <p:spPr>
          <a:xfrm>
            <a:off x="3873500" y="3200400"/>
            <a:ext cx="0" cy="16002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6D272956-3F51-117A-CB60-E899AD528381}"/>
              </a:ext>
            </a:extLst>
          </p:cNvPr>
          <p:cNvSpPr txBox="1"/>
          <p:nvPr/>
        </p:nvSpPr>
        <p:spPr>
          <a:xfrm>
            <a:off x="7150100" y="2860040"/>
            <a:ext cx="30480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>
                <a:solidFill>
                  <a:srgbClr val="187D8D"/>
                </a:solidFill>
                <a:latin typeface="Arial" panose="020B0604020202020204" pitchFamily="34" charset="0"/>
              </a:rPr>
              <a:t>Decoded regions</a:t>
            </a:r>
            <a:endParaRPr lang="zh-CN" altLang="en-US" sz="2100" dirty="0">
              <a:solidFill>
                <a:srgbClr val="187D8D"/>
              </a:solidFill>
              <a:latin typeface="Arial" panose="020B0604020202020204" pitchFamily="34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C84ECD47-8DF0-67B2-33BC-618B901312D4}"/>
              </a:ext>
            </a:extLst>
          </p:cNvPr>
          <p:cNvSpPr/>
          <p:nvPr/>
        </p:nvSpPr>
        <p:spPr>
          <a:xfrm>
            <a:off x="2959100" y="3360420"/>
            <a:ext cx="1828800" cy="85344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91EEE7C-E7CF-435D-0E34-1DFF25DD29EF}"/>
              </a:ext>
            </a:extLst>
          </p:cNvPr>
          <p:cNvSpPr txBox="1"/>
          <p:nvPr/>
        </p:nvSpPr>
        <p:spPr>
          <a:xfrm>
            <a:off x="2844800" y="3467100"/>
            <a:ext cx="2057400" cy="31496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2000" b="1">
                <a:solidFill>
                  <a:srgbClr val="203442"/>
                </a:solidFill>
                <a:latin typeface="Arial" panose="020B0604020202020204" pitchFamily="34" charset="0"/>
              </a:rPr>
              <a:t>Region pooling</a:t>
            </a:r>
            <a:endParaRPr lang="zh-CN" altLang="en-US" sz="20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158B855-2AA4-B781-63BC-FE5FC541DF51}"/>
              </a:ext>
            </a:extLst>
          </p:cNvPr>
          <p:cNvSpPr txBox="1"/>
          <p:nvPr/>
        </p:nvSpPr>
        <p:spPr>
          <a:xfrm>
            <a:off x="3009900" y="3810000"/>
            <a:ext cx="1727200" cy="314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Mean + max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F9FF0F9-DAC3-86DF-8B9B-C789DF7D48CC}"/>
              </a:ext>
            </a:extLst>
          </p:cNvPr>
          <p:cNvSpPr txBox="1"/>
          <p:nvPr/>
        </p:nvSpPr>
        <p:spPr>
          <a:xfrm>
            <a:off x="2603500" y="5410200"/>
            <a:ext cx="2540000" cy="31496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Function queries</a:t>
            </a:r>
            <a:endParaRPr lang="zh-CN" altLang="en-US" sz="2100" b="1" dirty="0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6516ECED-CEEA-1913-AAED-56C536246600}"/>
              </a:ext>
            </a:extLst>
          </p:cNvPr>
          <p:cNvSpPr/>
          <p:nvPr/>
        </p:nvSpPr>
        <p:spPr>
          <a:xfrm>
            <a:off x="3397250" y="511683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187D8D"/>
          </a:solidFill>
          <a:ln w="13970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DDA2B7D-213F-CF2E-117B-9D5F01F2A9BD}"/>
              </a:ext>
            </a:extLst>
          </p:cNvPr>
          <p:cNvSpPr/>
          <p:nvPr/>
        </p:nvSpPr>
        <p:spPr>
          <a:xfrm>
            <a:off x="3740150" y="511683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187D8D"/>
          </a:solidFill>
          <a:ln w="13970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28E4951E-D09E-866A-25C9-7AE3FC66FBDE}"/>
              </a:ext>
            </a:extLst>
          </p:cNvPr>
          <p:cNvSpPr/>
          <p:nvPr/>
        </p:nvSpPr>
        <p:spPr>
          <a:xfrm>
            <a:off x="4083050" y="5116830"/>
            <a:ext cx="266700" cy="266700"/>
          </a:xfrm>
          <a:prstGeom prst="roundRect">
            <a:avLst>
              <a:gd name="adj" fmla="val 8000"/>
            </a:avLst>
          </a:prstGeom>
          <a:solidFill>
            <a:srgbClr val="187D8D"/>
          </a:solidFill>
          <a:ln w="13970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D807352B-66D8-6A18-E61C-EDDE729AA7ED}"/>
              </a:ext>
            </a:extLst>
          </p:cNvPr>
          <p:cNvSpPr/>
          <p:nvPr/>
        </p:nvSpPr>
        <p:spPr>
          <a:xfrm>
            <a:off x="5562600" y="3434080"/>
            <a:ext cx="2298700" cy="216916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7C9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F20C1568-D158-DBB3-0EE1-F8BA0CD1C6E0}"/>
              </a:ext>
            </a:extLst>
          </p:cNvPr>
          <p:cNvSpPr/>
          <p:nvPr/>
        </p:nvSpPr>
        <p:spPr>
          <a:xfrm>
            <a:off x="5715000" y="357378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K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06E397F-90CA-6080-A40E-EF6D356F16B7}"/>
              </a:ext>
            </a:extLst>
          </p:cNvPr>
          <p:cNvSpPr/>
          <p:nvPr/>
        </p:nvSpPr>
        <p:spPr>
          <a:xfrm>
            <a:off x="5715000" y="430530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V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B0B7D83E-08D4-C9F6-2B55-84B1F1865301}"/>
              </a:ext>
            </a:extLst>
          </p:cNvPr>
          <p:cNvSpPr/>
          <p:nvPr/>
        </p:nvSpPr>
        <p:spPr>
          <a:xfrm>
            <a:off x="5715000" y="5036820"/>
            <a:ext cx="342900" cy="426720"/>
          </a:xfrm>
          <a:prstGeom prst="roundRect">
            <a:avLst>
              <a:gd name="adj" fmla="val 8000"/>
            </a:avLst>
          </a:prstGeom>
          <a:solidFill>
            <a:srgbClr val="EAF0F5"/>
          </a:solidFill>
          <a:ln w="10795">
            <a:solidFill>
              <a:srgbClr val="B0C3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Q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0F69F640-B84B-DEA6-C5C8-36AE1C791EB0}"/>
              </a:ext>
            </a:extLst>
          </p:cNvPr>
          <p:cNvSpPr/>
          <p:nvPr/>
        </p:nvSpPr>
        <p:spPr>
          <a:xfrm>
            <a:off x="6210300" y="3594100"/>
            <a:ext cx="660400" cy="184912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Own-region
attention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62280771-04D3-C2E3-337C-E1279EECA3A8}"/>
              </a:ext>
            </a:extLst>
          </p:cNvPr>
          <p:cNvSpPr/>
          <p:nvPr/>
        </p:nvSpPr>
        <p:spPr>
          <a:xfrm>
            <a:off x="7086600" y="3594100"/>
            <a:ext cx="660400" cy="184912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Context</a:t>
            </a:r>
          </a:p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decoder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A1A54F94-F220-4097-5AD5-008CB3EE3A82}"/>
              </a:ext>
            </a:extLst>
          </p:cNvPr>
          <p:cNvCxnSpPr/>
          <p:nvPr/>
        </p:nvCxnSpPr>
        <p:spPr>
          <a:xfrm>
            <a:off x="6870700" y="4518660"/>
            <a:ext cx="21590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68F932C-080E-5370-59A2-4FB145A24087}"/>
              </a:ext>
            </a:extLst>
          </p:cNvPr>
          <p:cNvCxnSpPr/>
          <p:nvPr/>
        </p:nvCxnSpPr>
        <p:spPr>
          <a:xfrm>
            <a:off x="4787900" y="3787140"/>
            <a:ext cx="92710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5B562EE-B1E9-47C4-0009-CC8BA77ECFD7}"/>
              </a:ext>
            </a:extLst>
          </p:cNvPr>
          <p:cNvCxnSpPr/>
          <p:nvPr/>
        </p:nvCxnSpPr>
        <p:spPr>
          <a:xfrm>
            <a:off x="5334000" y="3787140"/>
            <a:ext cx="0" cy="731520"/>
          </a:xfrm>
          <a:prstGeom prst="straightConnector1">
            <a:avLst/>
          </a:prstGeom>
          <a:ln w="15875">
            <a:solidFill>
              <a:srgbClr val="18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1C0459C1-777A-06A8-F5EE-188A47C190CF}"/>
              </a:ext>
            </a:extLst>
          </p:cNvPr>
          <p:cNvCxnSpPr/>
          <p:nvPr/>
        </p:nvCxnSpPr>
        <p:spPr>
          <a:xfrm>
            <a:off x="5334000" y="4518660"/>
            <a:ext cx="38100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1478672-F06D-CC3D-7CD7-7910DB31C27B}"/>
              </a:ext>
            </a:extLst>
          </p:cNvPr>
          <p:cNvCxnSpPr/>
          <p:nvPr/>
        </p:nvCxnSpPr>
        <p:spPr>
          <a:xfrm>
            <a:off x="4349750" y="5250180"/>
            <a:ext cx="136525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BD824A9E-8C88-4582-4D31-67283852EC96}"/>
              </a:ext>
            </a:extLst>
          </p:cNvPr>
          <p:cNvCxnSpPr/>
          <p:nvPr/>
        </p:nvCxnSpPr>
        <p:spPr>
          <a:xfrm>
            <a:off x="7861300" y="4518660"/>
            <a:ext cx="17780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47300EAD-F5F1-AA8F-F852-EF2678557BA1}"/>
              </a:ext>
            </a:extLst>
          </p:cNvPr>
          <p:cNvSpPr/>
          <p:nvPr/>
        </p:nvSpPr>
        <p:spPr>
          <a:xfrm>
            <a:off x="8064500" y="4091940"/>
            <a:ext cx="1397000" cy="853440"/>
          </a:xfrm>
          <a:prstGeom prst="roundRect">
            <a:avLst>
              <a:gd name="adj" fmla="val 8000"/>
            </a:avLst>
          </a:prstGeom>
          <a:solidFill>
            <a:srgbClr val="E7F2F3"/>
          </a:solidFill>
          <a:ln w="10795">
            <a:solidFill>
              <a:srgbClr val="187D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Classifier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85CDFB7-415B-D81F-C462-BA47613FBED3}"/>
              </a:ext>
            </a:extLst>
          </p:cNvPr>
          <p:cNvCxnSpPr/>
          <p:nvPr/>
        </p:nvCxnSpPr>
        <p:spPr>
          <a:xfrm>
            <a:off x="9461500" y="4518660"/>
            <a:ext cx="355600" cy="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367BAB2-0F86-BE60-B3AE-7D3C4EA8B2BF}"/>
              </a:ext>
            </a:extLst>
          </p:cNvPr>
          <p:cNvSpPr txBox="1"/>
          <p:nvPr/>
        </p:nvSpPr>
        <p:spPr>
          <a:xfrm>
            <a:off x="9620250" y="3450590"/>
            <a:ext cx="1651000" cy="6045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Function scores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3916787-DEEB-22DE-8B11-1357A4F891C4}"/>
              </a:ext>
            </a:extLst>
          </p:cNvPr>
          <p:cNvSpPr/>
          <p:nvPr/>
        </p:nvSpPr>
        <p:spPr>
          <a:xfrm>
            <a:off x="9918700" y="4131310"/>
            <a:ext cx="215900" cy="215900"/>
          </a:xfrm>
          <a:prstGeom prst="rect">
            <a:avLst/>
          </a:prstGeom>
          <a:solidFill>
            <a:srgbClr val="D6E9E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C7D0588D-1432-8945-96DE-675075099979}"/>
              </a:ext>
            </a:extLst>
          </p:cNvPr>
          <p:cNvSpPr/>
          <p:nvPr/>
        </p:nvSpPr>
        <p:spPr>
          <a:xfrm>
            <a:off x="10198100" y="4131310"/>
            <a:ext cx="215900" cy="215900"/>
          </a:xfrm>
          <a:prstGeom prst="rect">
            <a:avLst/>
          </a:prstGeom>
          <a:solidFill>
            <a:srgbClr val="187D8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BF3D4D4-0DB8-74DE-C3DF-3654D9ADE539}"/>
              </a:ext>
            </a:extLst>
          </p:cNvPr>
          <p:cNvSpPr/>
          <p:nvPr/>
        </p:nvSpPr>
        <p:spPr>
          <a:xfrm>
            <a:off x="10477500" y="4131310"/>
            <a:ext cx="215900" cy="215900"/>
          </a:xfrm>
          <a:prstGeom prst="rect">
            <a:avLst/>
          </a:prstGeom>
          <a:solidFill>
            <a:srgbClr val="D6E9E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628923A-E249-BF63-60DA-5121F18D3002}"/>
              </a:ext>
            </a:extLst>
          </p:cNvPr>
          <p:cNvSpPr/>
          <p:nvPr/>
        </p:nvSpPr>
        <p:spPr>
          <a:xfrm>
            <a:off x="10756900" y="4131310"/>
            <a:ext cx="215900" cy="215900"/>
          </a:xfrm>
          <a:prstGeom prst="rect">
            <a:avLst/>
          </a:prstGeom>
          <a:solidFill>
            <a:srgbClr val="187D8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813D74A-C4B3-5DD2-5FB9-BA42A6275213}"/>
              </a:ext>
            </a:extLst>
          </p:cNvPr>
          <p:cNvSpPr/>
          <p:nvPr/>
        </p:nvSpPr>
        <p:spPr>
          <a:xfrm>
            <a:off x="9918700" y="4410710"/>
            <a:ext cx="215900" cy="215900"/>
          </a:xfrm>
          <a:prstGeom prst="rect">
            <a:avLst/>
          </a:prstGeom>
          <a:solidFill>
            <a:srgbClr val="A7CAD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96CC89C-497A-649A-3036-621E4D40D1B9}"/>
              </a:ext>
            </a:extLst>
          </p:cNvPr>
          <p:cNvSpPr/>
          <p:nvPr/>
        </p:nvSpPr>
        <p:spPr>
          <a:xfrm>
            <a:off x="10198100" y="4410710"/>
            <a:ext cx="215900" cy="215900"/>
          </a:xfrm>
          <a:prstGeom prst="rect">
            <a:avLst/>
          </a:prstGeom>
          <a:solidFill>
            <a:srgbClr val="70A9B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9387FF8-0EC0-2367-C2D0-F24D76C4A8C0}"/>
              </a:ext>
            </a:extLst>
          </p:cNvPr>
          <p:cNvSpPr/>
          <p:nvPr/>
        </p:nvSpPr>
        <p:spPr>
          <a:xfrm>
            <a:off x="10477500" y="4410710"/>
            <a:ext cx="215900" cy="215900"/>
          </a:xfrm>
          <a:prstGeom prst="rect">
            <a:avLst/>
          </a:prstGeom>
          <a:solidFill>
            <a:srgbClr val="A7CAD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0A89997-2681-88A0-A1B3-211BE9D1BC7D}"/>
              </a:ext>
            </a:extLst>
          </p:cNvPr>
          <p:cNvSpPr/>
          <p:nvPr/>
        </p:nvSpPr>
        <p:spPr>
          <a:xfrm>
            <a:off x="10756900" y="4410710"/>
            <a:ext cx="215900" cy="215900"/>
          </a:xfrm>
          <a:prstGeom prst="rect">
            <a:avLst/>
          </a:prstGeom>
          <a:solidFill>
            <a:srgbClr val="70A9B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F00B562-6AE8-36F3-7DE2-61EB666F25C2}"/>
              </a:ext>
            </a:extLst>
          </p:cNvPr>
          <p:cNvSpPr/>
          <p:nvPr/>
        </p:nvSpPr>
        <p:spPr>
          <a:xfrm>
            <a:off x="9918700" y="4690110"/>
            <a:ext cx="215900" cy="215900"/>
          </a:xfrm>
          <a:prstGeom prst="rect">
            <a:avLst/>
          </a:prstGeom>
          <a:solidFill>
            <a:srgbClr val="187D8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73E2B946-A4F6-75D9-B84B-F67BE56DDDEC}"/>
              </a:ext>
            </a:extLst>
          </p:cNvPr>
          <p:cNvSpPr/>
          <p:nvPr/>
        </p:nvSpPr>
        <p:spPr>
          <a:xfrm>
            <a:off x="10198100" y="4690110"/>
            <a:ext cx="215900" cy="215900"/>
          </a:xfrm>
          <a:prstGeom prst="rect">
            <a:avLst/>
          </a:prstGeom>
          <a:solidFill>
            <a:srgbClr val="D6E9E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18971D2-2F74-C3A9-4228-0210BA502F2C}"/>
              </a:ext>
            </a:extLst>
          </p:cNvPr>
          <p:cNvSpPr/>
          <p:nvPr/>
        </p:nvSpPr>
        <p:spPr>
          <a:xfrm>
            <a:off x="10477500" y="4690110"/>
            <a:ext cx="215900" cy="215900"/>
          </a:xfrm>
          <a:prstGeom prst="rect">
            <a:avLst/>
          </a:prstGeom>
          <a:solidFill>
            <a:srgbClr val="187D8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ABD11D7B-7159-EBD0-01D3-506D90DCF299}"/>
              </a:ext>
            </a:extLst>
          </p:cNvPr>
          <p:cNvSpPr/>
          <p:nvPr/>
        </p:nvSpPr>
        <p:spPr>
          <a:xfrm>
            <a:off x="10756900" y="4690110"/>
            <a:ext cx="215900" cy="215900"/>
          </a:xfrm>
          <a:prstGeom prst="rect">
            <a:avLst/>
          </a:prstGeom>
          <a:solidFill>
            <a:srgbClr val="D6E9EB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4DD3B05-0D1A-919F-8D73-1CFE54385DFA}"/>
              </a:ext>
            </a:extLst>
          </p:cNvPr>
          <p:cNvSpPr txBox="1"/>
          <p:nvPr/>
        </p:nvSpPr>
        <p:spPr>
          <a:xfrm>
            <a:off x="9207500" y="5020310"/>
            <a:ext cx="24765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526675"/>
                </a:solidFill>
                <a:latin typeface="Arial" panose="020B0604020202020204" pitchFamily="34" charset="0"/>
              </a:rPr>
              <a:t>Sigmoid</a:t>
            </a:r>
          </a:p>
          <a:p>
            <a:pPr algn="ctr"/>
            <a:r>
              <a:rPr lang="en-US" altLang="zh-CN">
                <a:solidFill>
                  <a:srgbClr val="526675"/>
                </a:solidFill>
                <a:latin typeface="Arial" panose="020B0604020202020204" pitchFamily="34" charset="0"/>
              </a:rPr>
              <a:t>256 function clusters</a:t>
            </a:r>
            <a:endParaRPr lang="zh-CN" altLang="en-US" dirty="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C38A1BEA-39B3-6403-8B15-E52BE537B3A0}"/>
              </a:ext>
            </a:extLst>
          </p:cNvPr>
          <p:cNvCxnSpPr/>
          <p:nvPr/>
        </p:nvCxnSpPr>
        <p:spPr>
          <a:xfrm>
            <a:off x="11061700" y="1943100"/>
            <a:ext cx="787400" cy="0"/>
          </a:xfrm>
          <a:prstGeom prst="straightConnector1">
            <a:avLst/>
          </a:prstGeom>
          <a:ln w="15875">
            <a:solidFill>
              <a:srgbClr val="D99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489BFC51-38C5-A090-1748-DF0FF125BEE4}"/>
              </a:ext>
            </a:extLst>
          </p:cNvPr>
          <p:cNvCxnSpPr/>
          <p:nvPr/>
        </p:nvCxnSpPr>
        <p:spPr>
          <a:xfrm>
            <a:off x="11849100" y="1943100"/>
            <a:ext cx="0" cy="1079500"/>
          </a:xfrm>
          <a:prstGeom prst="straightConnector1">
            <a:avLst/>
          </a:prstGeom>
          <a:ln w="15875">
            <a:solidFill>
              <a:srgbClr val="D99A5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607CF8AC-7F44-A159-5896-B69B6A7B15DB}"/>
              </a:ext>
            </a:extLst>
          </p:cNvPr>
          <p:cNvCxnSpPr/>
          <p:nvPr/>
        </p:nvCxnSpPr>
        <p:spPr>
          <a:xfrm>
            <a:off x="10998200" y="4518660"/>
            <a:ext cx="850900" cy="0"/>
          </a:xfrm>
          <a:prstGeom prst="straightConnector1">
            <a:avLst/>
          </a:prstGeom>
          <a:ln w="15875">
            <a:solidFill>
              <a:srgbClr val="18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7D6C72BE-5317-F3DF-DBC7-6CFB8BB4F6F9}"/>
              </a:ext>
            </a:extLst>
          </p:cNvPr>
          <p:cNvCxnSpPr/>
          <p:nvPr/>
        </p:nvCxnSpPr>
        <p:spPr>
          <a:xfrm flipV="1">
            <a:off x="11849100" y="4160520"/>
            <a:ext cx="0" cy="358140"/>
          </a:xfrm>
          <a:prstGeom prst="straightConnector1">
            <a:avLst/>
          </a:prstGeom>
          <a:ln w="15875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E1A9D459-7C3D-AA53-DBDB-A25AF4EB733B}"/>
              </a:ext>
            </a:extLst>
          </p:cNvPr>
          <p:cNvSpPr/>
          <p:nvPr/>
        </p:nvSpPr>
        <p:spPr>
          <a:xfrm>
            <a:off x="11303000" y="3022600"/>
            <a:ext cx="1092200" cy="1137920"/>
          </a:xfrm>
          <a:prstGeom prst="roundRect">
            <a:avLst>
              <a:gd name="adj" fmla="val 8000"/>
            </a:avLst>
          </a:prstGeom>
          <a:solidFill>
            <a:srgbClr val="F1EDF5"/>
          </a:solidFill>
          <a:ln w="14605">
            <a:solidFill>
              <a:srgbClr val="8674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Region
pairing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5EF7507F-8030-466D-B2A3-E86F1695264A}"/>
              </a:ext>
            </a:extLst>
          </p:cNvPr>
          <p:cNvCxnSpPr/>
          <p:nvPr/>
        </p:nvCxnSpPr>
        <p:spPr>
          <a:xfrm>
            <a:off x="12395200" y="3591560"/>
            <a:ext cx="266700" cy="0"/>
          </a:xfrm>
          <a:prstGeom prst="straightConnector1">
            <a:avLst/>
          </a:prstGeom>
          <a:ln w="15875">
            <a:solidFill>
              <a:srgbClr val="86749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6B8B60BE-8A3A-A4C7-17E1-4CCD2C23FC0D}"/>
              </a:ext>
            </a:extLst>
          </p:cNvPr>
          <p:cNvSpPr txBox="1"/>
          <p:nvPr/>
        </p:nvSpPr>
        <p:spPr>
          <a:xfrm>
            <a:off x="12573000" y="952500"/>
            <a:ext cx="2286000" cy="6045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2000" b="1">
                <a:solidFill>
                  <a:srgbClr val="203442"/>
                </a:solidFill>
                <a:latin typeface="Arial" panose="020B0604020202020204" pitchFamily="34" charset="0"/>
              </a:rPr>
              <a:t>Predicted regions</a:t>
            </a:r>
          </a:p>
          <a:p>
            <a:r>
              <a:rPr lang="en-US" altLang="zh-CN" sz="2000" b="1">
                <a:solidFill>
                  <a:srgbClr val="203442"/>
                </a:solidFill>
                <a:latin typeface="Arial" panose="020B0604020202020204" pitchFamily="34" charset="0"/>
              </a:rPr>
              <a:t>and functions</a:t>
            </a:r>
            <a:endParaRPr lang="zh-CN" altLang="en-US" sz="20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742B4DF-0410-A0E3-5849-F0FFA77D9E53}"/>
              </a:ext>
            </a:extLst>
          </p:cNvPr>
          <p:cNvSpPr txBox="1"/>
          <p:nvPr/>
        </p:nvSpPr>
        <p:spPr>
          <a:xfrm>
            <a:off x="12687300" y="1752600"/>
            <a:ext cx="1841500" cy="31496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Region 1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4C30886-29BD-2631-52C9-280548DF2E68}"/>
              </a:ext>
            </a:extLst>
          </p:cNvPr>
          <p:cNvSpPr/>
          <p:nvPr/>
        </p:nvSpPr>
        <p:spPr>
          <a:xfrm>
            <a:off x="12687300" y="2280920"/>
            <a:ext cx="1854200" cy="71120"/>
          </a:xfrm>
          <a:prstGeom prst="rect">
            <a:avLst/>
          </a:prstGeom>
          <a:solidFill>
            <a:srgbClr val="E8ECE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6A2F5DDD-F6BF-E9DF-F577-099E76050C4D}"/>
              </a:ext>
            </a:extLst>
          </p:cNvPr>
          <p:cNvSpPr/>
          <p:nvPr/>
        </p:nvSpPr>
        <p:spPr>
          <a:xfrm>
            <a:off x="12687300" y="2209800"/>
            <a:ext cx="762000" cy="195580"/>
          </a:xfrm>
          <a:prstGeom prst="roundRect">
            <a:avLst>
              <a:gd name="adj" fmla="val 8000"/>
            </a:avLst>
          </a:prstGeom>
          <a:solidFill>
            <a:srgbClr val="D99A58"/>
          </a:solidFill>
          <a:ln w="1016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016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80643E9D-72D8-3D57-D109-5B6F24D2EDB7}"/>
              </a:ext>
            </a:extLst>
          </p:cNvPr>
          <p:cNvSpPr txBox="1"/>
          <p:nvPr/>
        </p:nvSpPr>
        <p:spPr>
          <a:xfrm>
            <a:off x="12687300" y="2552700"/>
            <a:ext cx="1841500" cy="6045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Residue span</a:t>
            </a:r>
          </a:p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Function labels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14541374-8B6F-D18A-73E0-9D8DC9F653DE}"/>
              </a:ext>
            </a:extLst>
          </p:cNvPr>
          <p:cNvSpPr txBox="1"/>
          <p:nvPr/>
        </p:nvSpPr>
        <p:spPr>
          <a:xfrm>
            <a:off x="12687300" y="4025900"/>
            <a:ext cx="1841500" cy="31496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 b="1">
                <a:solidFill>
                  <a:srgbClr val="203442"/>
                </a:solidFill>
                <a:latin typeface="Arial" panose="020B0604020202020204" pitchFamily="34" charset="0"/>
              </a:rPr>
              <a:t>Region 2</a:t>
            </a:r>
            <a:endParaRPr lang="zh-CN" altLang="en-US" sz="2100" b="1">
              <a:solidFill>
                <a:srgbClr val="203442"/>
              </a:solidFill>
              <a:latin typeface="Arial" panose="020B0604020202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3EDDCA40-6E63-3F44-2BFF-C828C607D47D}"/>
              </a:ext>
            </a:extLst>
          </p:cNvPr>
          <p:cNvSpPr/>
          <p:nvPr/>
        </p:nvSpPr>
        <p:spPr>
          <a:xfrm>
            <a:off x="12687300" y="4554220"/>
            <a:ext cx="1854200" cy="71120"/>
          </a:xfrm>
          <a:prstGeom prst="rect">
            <a:avLst/>
          </a:prstGeom>
          <a:solidFill>
            <a:srgbClr val="E8ECEF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A8BF2573-8E31-00EE-53F1-99E6129E5C8E}"/>
              </a:ext>
            </a:extLst>
          </p:cNvPr>
          <p:cNvSpPr/>
          <p:nvPr/>
        </p:nvSpPr>
        <p:spPr>
          <a:xfrm>
            <a:off x="13779500" y="4483100"/>
            <a:ext cx="762000" cy="195580"/>
          </a:xfrm>
          <a:prstGeom prst="roundRect">
            <a:avLst>
              <a:gd name="adj" fmla="val 8000"/>
            </a:avLst>
          </a:prstGeom>
          <a:solidFill>
            <a:srgbClr val="187D8D"/>
          </a:solidFill>
          <a:ln w="1016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016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Autofit/>
          </a:bodyPr>
          <a:lstStyle/>
          <a:p>
            <a:pPr algn="ctr"/>
            <a:endParaRPr lang="zh-CN" altLang="en-US" sz="2100" b="1">
              <a:solidFill>
                <a:srgbClr val="20364A"/>
              </a:solidFill>
              <a:latin typeface="Arial" panose="020B0604020202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68FE40A-973E-C659-687C-2C6DFA257CAC}"/>
              </a:ext>
            </a:extLst>
          </p:cNvPr>
          <p:cNvSpPr txBox="1"/>
          <p:nvPr/>
        </p:nvSpPr>
        <p:spPr>
          <a:xfrm>
            <a:off x="12687300" y="4826000"/>
            <a:ext cx="1841500" cy="6045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Residue span</a:t>
            </a:r>
          </a:p>
          <a:p>
            <a:r>
              <a:rPr lang="en-US" altLang="zh-CN" sz="2100">
                <a:solidFill>
                  <a:srgbClr val="526675"/>
                </a:solidFill>
                <a:latin typeface="Arial" panose="020B0604020202020204" pitchFamily="34" charset="0"/>
              </a:rPr>
              <a:t>Function labels</a:t>
            </a:r>
            <a:endParaRPr lang="zh-CN" altLang="en-US" sz="2100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  <p:cxnSp>
        <p:nvCxnSpPr>
          <p:cNvPr id="30" name="pool_to_function_query">
            <a:extLst>
              <a:ext uri="{FF2B5EF4-FFF2-40B4-BE49-F238E27FC236}">
                <a16:creationId xmlns:a16="http://schemas.microsoft.com/office/drawing/2014/main" id="{DEA7EF24-5D79-2E06-C9A8-F4871C012313}"/>
              </a:ext>
            </a:extLst>
          </p:cNvPr>
          <p:cNvCxnSpPr/>
          <p:nvPr/>
        </p:nvCxnSpPr>
        <p:spPr>
          <a:xfrm>
            <a:off x="3873500" y="4213860"/>
            <a:ext cx="0" cy="866140"/>
          </a:xfrm>
          <a:prstGeom prst="line">
            <a:avLst/>
          </a:prstGeom>
          <a:ln w="16510">
            <a:solidFill>
              <a:srgbClr val="187D8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query_initialization">
            <a:extLst>
              <a:ext uri="{FF2B5EF4-FFF2-40B4-BE49-F238E27FC236}">
                <a16:creationId xmlns:a16="http://schemas.microsoft.com/office/drawing/2014/main" id="{A326336E-FF7E-AAF3-BBD3-AC898B61D998}"/>
              </a:ext>
            </a:extLst>
          </p:cNvPr>
          <p:cNvSpPr txBox="1"/>
          <p:nvPr/>
        </p:nvSpPr>
        <p:spPr>
          <a:xfrm>
            <a:off x="3962400" y="4330700"/>
            <a:ext cx="1460500" cy="6223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187D8D"/>
                </a:solidFill>
                <a:latin typeface="Arial" panose="020B0604020202020204" pitchFamily="34" charset="0"/>
              </a:rPr>
              <a:t>Project +</a:t>
            </a:r>
          </a:p>
          <a:p>
            <a:pPr algn="ctr"/>
            <a:r>
              <a:rPr lang="en-US" altLang="zh-CN">
                <a:solidFill>
                  <a:srgbClr val="187D8D"/>
                </a:solidFill>
                <a:latin typeface="Arial" panose="020B0604020202020204" pitchFamily="34" charset="0"/>
              </a:rPr>
              <a:t>initialize</a:t>
            </a:r>
            <a:endParaRPr lang="zh-CN" altLang="en-US">
              <a:solidFill>
                <a:srgbClr val="187D8D"/>
              </a:solidFill>
              <a:latin typeface="Arial" panose="020B0604020202020204" pitchFamily="34" charset="0"/>
            </a:endParaRPr>
          </a:p>
        </p:txBody>
      </p:sp>
      <p:sp>
        <p:nvSpPr>
          <p:cNvPr id="93" name="one_query_per_region">
            <a:extLst>
              <a:ext uri="{FF2B5EF4-FFF2-40B4-BE49-F238E27FC236}">
                <a16:creationId xmlns:a16="http://schemas.microsoft.com/office/drawing/2014/main" id="{A60B2718-91B5-EF69-C03D-2DDE8363E853}"/>
              </a:ext>
            </a:extLst>
          </p:cNvPr>
          <p:cNvSpPr txBox="1"/>
          <p:nvPr/>
        </p:nvSpPr>
        <p:spPr>
          <a:xfrm>
            <a:off x="2603500" y="5715000"/>
            <a:ext cx="25400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187D8D"/>
                </a:solidFill>
                <a:latin typeface="Arial" panose="020B0604020202020204" pitchFamily="34" charset="0"/>
              </a:rPr>
              <a:t>One query per region</a:t>
            </a:r>
            <a:endParaRPr lang="zh-CN" altLang="en-US">
              <a:solidFill>
                <a:srgbClr val="187D8D"/>
              </a:solidFill>
              <a:latin typeface="Arial" panose="020B0604020202020204" pitchFamily="34" charset="0"/>
            </a:endParaRPr>
          </a:p>
        </p:txBody>
      </p:sp>
      <p:cxnSp>
        <p:nvCxnSpPr>
          <p:cNvPr id="94" name="training_gradient_1">
            <a:extLst>
              <a:ext uri="{FF2B5EF4-FFF2-40B4-BE49-F238E27FC236}">
                <a16:creationId xmlns:a16="http://schemas.microsoft.com/office/drawing/2014/main" id="{BC3883EB-4242-8099-562D-88D5E717D277}"/>
              </a:ext>
            </a:extLst>
          </p:cNvPr>
          <p:cNvCxnSpPr/>
          <p:nvPr/>
        </p:nvCxnSpPr>
        <p:spPr>
          <a:xfrm flipV="1">
            <a:off x="4572000" y="3111500"/>
            <a:ext cx="0" cy="248920"/>
          </a:xfrm>
          <a:prstGeom prst="line">
            <a:avLst/>
          </a:prstGeom>
          <a:ln w="12700">
            <a:solidFill>
              <a:srgbClr val="5266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training_gradient_2">
            <a:extLst>
              <a:ext uri="{FF2B5EF4-FFF2-40B4-BE49-F238E27FC236}">
                <a16:creationId xmlns:a16="http://schemas.microsoft.com/office/drawing/2014/main" id="{9C1B8FFA-6D27-3B61-21FE-D096E565478A}"/>
              </a:ext>
            </a:extLst>
          </p:cNvPr>
          <p:cNvCxnSpPr/>
          <p:nvPr/>
        </p:nvCxnSpPr>
        <p:spPr>
          <a:xfrm>
            <a:off x="4572000" y="3111500"/>
            <a:ext cx="2667000" cy="0"/>
          </a:xfrm>
          <a:prstGeom prst="line">
            <a:avLst/>
          </a:prstGeom>
          <a:ln w="12700">
            <a:solidFill>
              <a:srgbClr val="5266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training_gradient_3">
            <a:extLst>
              <a:ext uri="{FF2B5EF4-FFF2-40B4-BE49-F238E27FC236}">
                <a16:creationId xmlns:a16="http://schemas.microsoft.com/office/drawing/2014/main" id="{206F9C6A-1B09-A17B-46C7-6D250DA75827}"/>
              </a:ext>
            </a:extLst>
          </p:cNvPr>
          <p:cNvCxnSpPr/>
          <p:nvPr/>
        </p:nvCxnSpPr>
        <p:spPr>
          <a:xfrm flipV="1">
            <a:off x="7239000" y="2565400"/>
            <a:ext cx="0" cy="546100"/>
          </a:xfrm>
          <a:prstGeom prst="line">
            <a:avLst/>
          </a:prstGeom>
          <a:ln w="12700">
            <a:solidFill>
              <a:srgbClr val="5266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training_gradient_4">
            <a:extLst>
              <a:ext uri="{FF2B5EF4-FFF2-40B4-BE49-F238E27FC236}">
                <a16:creationId xmlns:a16="http://schemas.microsoft.com/office/drawing/2014/main" id="{AA9759E2-BF55-8FEF-01C5-485A912F5F57}"/>
              </a:ext>
            </a:extLst>
          </p:cNvPr>
          <p:cNvCxnSpPr/>
          <p:nvPr/>
        </p:nvCxnSpPr>
        <p:spPr>
          <a:xfrm>
            <a:off x="7239000" y="2565400"/>
            <a:ext cx="1016000" cy="0"/>
          </a:xfrm>
          <a:prstGeom prst="line">
            <a:avLst/>
          </a:prstGeom>
          <a:ln w="12700">
            <a:solidFill>
              <a:srgbClr val="5266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training_gradient_5">
            <a:extLst>
              <a:ext uri="{FF2B5EF4-FFF2-40B4-BE49-F238E27FC236}">
                <a16:creationId xmlns:a16="http://schemas.microsoft.com/office/drawing/2014/main" id="{A594ACE2-C370-50DF-9D5B-68F0F229B060}"/>
              </a:ext>
            </a:extLst>
          </p:cNvPr>
          <p:cNvCxnSpPr/>
          <p:nvPr/>
        </p:nvCxnSpPr>
        <p:spPr>
          <a:xfrm flipV="1">
            <a:off x="8255000" y="2463800"/>
            <a:ext cx="0" cy="101600"/>
          </a:xfrm>
          <a:prstGeom prst="line">
            <a:avLst/>
          </a:prstGeom>
          <a:ln w="12700">
            <a:solidFill>
              <a:srgbClr val="52667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raining_gradient_label">
            <a:extLst>
              <a:ext uri="{FF2B5EF4-FFF2-40B4-BE49-F238E27FC236}">
                <a16:creationId xmlns:a16="http://schemas.microsoft.com/office/drawing/2014/main" id="{62AE5432-ACAE-4ED9-52DF-0929D9563802}"/>
              </a:ext>
            </a:extLst>
          </p:cNvPr>
          <p:cNvSpPr txBox="1"/>
          <p:nvPr/>
        </p:nvSpPr>
        <p:spPr>
          <a:xfrm>
            <a:off x="7366000" y="2590800"/>
            <a:ext cx="20701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526675"/>
                </a:solidFill>
                <a:latin typeface="Arial" panose="020B0604020202020204" pitchFamily="34" charset="0"/>
              </a:rPr>
              <a:t>Training only</a:t>
            </a:r>
            <a:endParaRPr lang="zh-CN" altLang="en-US">
              <a:solidFill>
                <a:srgbClr val="52667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</Words>
  <Application>Microsoft Office PowerPoint</Application>
  <PresentationFormat>自定义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娅璇 胡</dc:creator>
  <cp:lastModifiedBy>娅璇 胡</cp:lastModifiedBy>
  <cp:revision>23</cp:revision>
  <dcterms:created xsi:type="dcterms:W3CDTF">2026-10-01T07:59:09Z</dcterms:created>
  <dcterms:modified xsi:type="dcterms:W3CDTF">2026-10-10T03:18:53Z</dcterms:modified>
</cp:coreProperties>
</file>